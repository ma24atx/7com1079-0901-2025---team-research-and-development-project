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7"/>
  </p:notesMasterIdLst>
  <p:sldIdLst>
    <p:sldId id="257" r:id="rId2"/>
    <p:sldId id="258" r:id="rId3"/>
    <p:sldId id="259" r:id="rId4"/>
    <p:sldId id="261" r:id="rId5"/>
    <p:sldId id="262" r:id="rId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guide orient="horz" pos="2160"/>
        <p:guide pos="3840"/>
        <p:guide orient="horz" pos="3249"/>
        <p:guide pos="7068"/>
        <p:guide orient="horz" pos="13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marL="0" lvl="0" indent="0" algn="l" rtl="0">
              <a:spcBef>
                <a:spcPts val="0"/>
              </a:spcBef>
              <a:spcAft>
                <a:spcPts val="0"/>
              </a:spcAft>
              <a:buNone/>
            </a:pPr>
            <a:endParaRPr/>
          </a:p>
          <a:p>
            <a:pPr marL="0" lvl="0" indent="0" algn="l" rtl="0">
              <a:spcBef>
                <a:spcPts val="0"/>
              </a:spcBef>
              <a:spcAft>
                <a:spcPts val="0"/>
              </a:spcAft>
              <a:buNone/>
            </a:pPr>
            <a:r>
              <a:rPr lang="en-GB"/>
              <a:t>You will get only one opportunity to present your Research Question ahead of the submission date.  Have your questions ready, and be ready to take notes on feedback.</a:t>
            </a:r>
            <a:endParaRPr/>
          </a:p>
        </p:txBody>
      </p:sp>
      <p:sp>
        <p:nvSpPr>
          <p:cNvPr id="102" name="Google Shape;10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59200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age">
  <p:cSld name="Title page">
    <p:bg>
      <p:bgPr>
        <a:solidFill>
          <a:schemeClr val="lt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954000" y="1890000"/>
            <a:ext cx="7200000"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600"/>
              <a:buNone/>
              <a:defRPr sz="3600" b="1">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i="0" u="none" strike="noStrike" cap="none">
                <a:solidFill>
                  <a:srgbClr val="8F9898"/>
                </a:solidFill>
                <a:latin typeface="Arial"/>
                <a:ea typeface="Arial"/>
                <a:cs typeface="Arial"/>
                <a:sym typeface="Arial"/>
              </a:defRPr>
            </a:lvl1pPr>
            <a:lvl2pPr marL="0" lvl="1" indent="0" algn="r">
              <a:spcBef>
                <a:spcPts val="0"/>
              </a:spcBef>
              <a:buNone/>
              <a:defRPr sz="1500" b="1" i="0" u="none" strike="noStrike" cap="none">
                <a:solidFill>
                  <a:srgbClr val="8F9898"/>
                </a:solidFill>
                <a:latin typeface="Arial"/>
                <a:ea typeface="Arial"/>
                <a:cs typeface="Arial"/>
                <a:sym typeface="Arial"/>
              </a:defRPr>
            </a:lvl2pPr>
            <a:lvl3pPr marL="0" lvl="2" indent="0" algn="r">
              <a:spcBef>
                <a:spcPts val="0"/>
              </a:spcBef>
              <a:buNone/>
              <a:defRPr sz="1500" b="1" i="0" u="none" strike="noStrike" cap="none">
                <a:solidFill>
                  <a:srgbClr val="8F9898"/>
                </a:solidFill>
                <a:latin typeface="Arial"/>
                <a:ea typeface="Arial"/>
                <a:cs typeface="Arial"/>
                <a:sym typeface="Arial"/>
              </a:defRPr>
            </a:lvl3pPr>
            <a:lvl4pPr marL="0" lvl="3" indent="0" algn="r">
              <a:spcBef>
                <a:spcPts val="0"/>
              </a:spcBef>
              <a:buNone/>
              <a:defRPr sz="1500" b="1" i="0" u="none" strike="noStrike" cap="none">
                <a:solidFill>
                  <a:srgbClr val="8F9898"/>
                </a:solidFill>
                <a:latin typeface="Arial"/>
                <a:ea typeface="Arial"/>
                <a:cs typeface="Arial"/>
                <a:sym typeface="Arial"/>
              </a:defRPr>
            </a:lvl4pPr>
            <a:lvl5pPr marL="0" lvl="4" indent="0" algn="r">
              <a:spcBef>
                <a:spcPts val="0"/>
              </a:spcBef>
              <a:buNone/>
              <a:defRPr sz="1500" b="1" i="0" u="none" strike="noStrike" cap="none">
                <a:solidFill>
                  <a:srgbClr val="8F9898"/>
                </a:solidFill>
                <a:latin typeface="Arial"/>
                <a:ea typeface="Arial"/>
                <a:cs typeface="Arial"/>
                <a:sym typeface="Arial"/>
              </a:defRPr>
            </a:lvl5pPr>
            <a:lvl6pPr marL="0" lvl="5" indent="0" algn="r">
              <a:spcBef>
                <a:spcPts val="0"/>
              </a:spcBef>
              <a:buNone/>
              <a:defRPr sz="1500" b="1" i="0" u="none" strike="noStrike" cap="none">
                <a:solidFill>
                  <a:srgbClr val="8F9898"/>
                </a:solidFill>
                <a:latin typeface="Arial"/>
                <a:ea typeface="Arial"/>
                <a:cs typeface="Arial"/>
                <a:sym typeface="Arial"/>
              </a:defRPr>
            </a:lvl6pPr>
            <a:lvl7pPr marL="0" lvl="6" indent="0" algn="r">
              <a:spcBef>
                <a:spcPts val="0"/>
              </a:spcBef>
              <a:buNone/>
              <a:defRPr sz="1500" b="1" i="0" u="none" strike="noStrike" cap="none">
                <a:solidFill>
                  <a:srgbClr val="8F9898"/>
                </a:solidFill>
                <a:latin typeface="Arial"/>
                <a:ea typeface="Arial"/>
                <a:cs typeface="Arial"/>
                <a:sym typeface="Arial"/>
              </a:defRPr>
            </a:lvl7pPr>
            <a:lvl8pPr marL="0" lvl="7" indent="0" algn="r">
              <a:spcBef>
                <a:spcPts val="0"/>
              </a:spcBef>
              <a:buNone/>
              <a:defRPr sz="1500" b="1" i="0" u="none" strike="noStrike" cap="none">
                <a:solidFill>
                  <a:srgbClr val="8F9898"/>
                </a:solidFill>
                <a:latin typeface="Arial"/>
                <a:ea typeface="Arial"/>
                <a:cs typeface="Arial"/>
                <a:sym typeface="Arial"/>
              </a:defRPr>
            </a:lvl8pPr>
            <a:lvl9pPr marL="0" lvl="8" indent="0" algn="r">
              <a:spcBef>
                <a:spcPts val="0"/>
              </a:spcBef>
              <a:buNone/>
              <a:defRPr sz="1500" b="1" i="0" u="none" strike="noStrike" cap="none">
                <a:solidFill>
                  <a:srgbClr val="8F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8" name="Google Shape;18;p2"/>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dk1"/>
              </a:buClr>
              <a:buSzPts val="7500"/>
              <a:buFont typeface="Arial"/>
              <a:buNone/>
              <a:defRPr sz="75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Arial"/>
              <a:ea typeface="Arial"/>
              <a:cs typeface="Arial"/>
              <a:sym typeface="Arial"/>
            </a:endParaRPr>
          </a:p>
        </p:txBody>
      </p:sp>
      <p:pic>
        <p:nvPicPr>
          <p:cNvPr id="20" name="Google Shape;20;p2"/>
          <p:cNvPicPr preferRelativeResize="0"/>
          <p:nvPr/>
        </p:nvPicPr>
        <p:blipFill rotWithShape="1">
          <a:blip r:embed="rId2">
            <a:alphaModFix/>
          </a:blip>
          <a:srcRect/>
          <a:stretch/>
        </p:blipFill>
        <p:spPr>
          <a:xfrm>
            <a:off x="953998" y="5517266"/>
            <a:ext cx="2244881" cy="3969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type="title">
  <p:cSld name="TITLE">
    <p:bg>
      <p:bgPr>
        <a:solidFill>
          <a:schemeClr val="accen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lt1"/>
              </a:buClr>
              <a:buSzPts val="7500"/>
              <a:buFont typeface="Arial"/>
              <a:buNone/>
              <a:defRPr sz="7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954000" y="1890000"/>
            <a:ext cx="10031156"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600"/>
              <a:buNone/>
              <a:defRPr sz="3600" b="1">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6" name="Google Shape;26;p3" descr="A picture containing drawing&#10;&#10;Description automatically generated"/>
          <p:cNvPicPr preferRelativeResize="0"/>
          <p:nvPr/>
        </p:nvPicPr>
        <p:blipFill rotWithShape="1">
          <a:blip r:embed="rId2">
            <a:alphaModFix/>
          </a:blip>
          <a:srcRect/>
          <a:stretch/>
        </p:blipFill>
        <p:spPr>
          <a:xfrm>
            <a:off x="954000" y="5511600"/>
            <a:ext cx="2242800" cy="3979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p:cSld name="Cover">
    <p:bg>
      <p:bgPr>
        <a:blipFill>
          <a:blip r:embed="rId2">
            <a:alphaModFix/>
          </a:blip>
          <a:stretch>
            <a:fillRect/>
          </a:stretch>
        </a:blipFill>
        <a:effectLst/>
      </p:bgPr>
    </p:bg>
    <p:spTree>
      <p:nvGrpSpPr>
        <p:cNvPr id="1" name="Shape 27"/>
        <p:cNvGrpSpPr/>
        <p:nvPr/>
      </p:nvGrpSpPr>
      <p:grpSpPr>
        <a:xfrm>
          <a:off x="0" y="0"/>
          <a:ext cx="0" cy="0"/>
          <a:chOff x="0" y="0"/>
          <a:chExt cx="0" cy="0"/>
        </a:xfrm>
      </p:grpSpPr>
      <p:pic>
        <p:nvPicPr>
          <p:cNvPr id="28" name="Google Shape;28;p4" descr="University of Hertfordshire logo"/>
          <p:cNvPicPr preferRelativeResize="0"/>
          <p:nvPr/>
        </p:nvPicPr>
        <p:blipFill rotWithShape="1">
          <a:blip r:embed="rId3">
            <a:alphaModFix/>
          </a:blip>
          <a:srcRect/>
          <a:stretch/>
        </p:blipFill>
        <p:spPr>
          <a:xfrm>
            <a:off x="2844000" y="2854800"/>
            <a:ext cx="6501600" cy="115363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ntent" type="twoObj">
  <p:cSld name="TWO_OBJECTS">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973668" y="2717444"/>
            <a:ext cx="4903200"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336000" y="2717444"/>
            <a:ext cx="4456800" cy="3175200"/>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35" name="Google Shape;35;p5"/>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805">
          <p15:clr>
            <a:srgbClr val="FBAE40"/>
          </p15:clr>
        </p15:guide>
        <p15:guide id="2" pos="3989">
          <p15:clr>
            <a:srgbClr val="FBAE40"/>
          </p15:clr>
        </p15:guide>
        <p15:guide id="3" pos="370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970139" y="2717600"/>
            <a:ext cx="10251722"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1" name="Google Shape;41;p6"/>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Large">
  <p:cSld name="Title and Content Large">
    <p:bg>
      <p:bgPr>
        <a:solidFill>
          <a:schemeClr val="lt1"/>
        </a:solidFill>
        <a:effectLst/>
      </p:bgPr>
    </p:bg>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7"/>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Large blue">
  <p:cSld name="Title and Content Large blue">
    <p:bg>
      <p:bgPr>
        <a:solidFill>
          <a:schemeClr val="accent1"/>
        </a:solid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9" name="Google Shape;49;p8"/>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chemeClr val="lt1"/>
              </a:buClr>
              <a:buSzPts val="2400"/>
              <a:buNone/>
              <a:defRPr b="0">
                <a:solidFill>
                  <a:schemeClr val="lt1"/>
                </a:solidFill>
              </a:defRPr>
            </a:lvl1pPr>
            <a:lvl2pPr marL="914400" lvl="1" indent="-228600" algn="l">
              <a:lnSpc>
                <a:spcPct val="120000"/>
              </a:lnSpc>
              <a:spcBef>
                <a:spcPts val="992"/>
              </a:spcBef>
              <a:spcAft>
                <a:spcPts val="0"/>
              </a:spcAft>
              <a:buClr>
                <a:schemeClr val="lt1"/>
              </a:buClr>
              <a:buSzPts val="2400"/>
              <a:buNone/>
              <a:defRPr>
                <a:solidFill>
                  <a:schemeClr val="lt1"/>
                </a:solidFill>
              </a:defRPr>
            </a:lvl2pPr>
            <a:lvl3pPr marL="1371600" lvl="2" indent="-381000" algn="l">
              <a:lnSpc>
                <a:spcPct val="120000"/>
              </a:lnSpc>
              <a:spcBef>
                <a:spcPts val="992"/>
              </a:spcBef>
              <a:spcAft>
                <a:spcPts val="0"/>
              </a:spcAft>
              <a:buClr>
                <a:schemeClr val="lt1"/>
              </a:buClr>
              <a:buSzPts val="2400"/>
              <a:buChar char="■"/>
              <a:defRPr>
                <a:solidFill>
                  <a:schemeClr val="lt1"/>
                </a:solidFill>
              </a:defRPr>
            </a:lvl3pPr>
            <a:lvl4pPr marL="1828800" lvl="3" indent="-228600" algn="l">
              <a:lnSpc>
                <a:spcPct val="120000"/>
              </a:lnSpc>
              <a:spcBef>
                <a:spcPts val="992"/>
              </a:spcBef>
              <a:spcAft>
                <a:spcPts val="0"/>
              </a:spcAft>
              <a:buClr>
                <a:schemeClr val="lt1"/>
              </a:buClr>
              <a:buSzPts val="1800"/>
              <a:buNone/>
              <a:defRPr>
                <a:solidFill>
                  <a:schemeClr val="lt1"/>
                </a:solidFill>
              </a:defRPr>
            </a:lvl4pPr>
            <a:lvl5pPr marL="2286000" lvl="4" indent="-228600" algn="l">
              <a:lnSpc>
                <a:spcPct val="120000"/>
              </a:lnSpc>
              <a:spcBef>
                <a:spcPts val="0"/>
              </a:spcBef>
              <a:spcAft>
                <a:spcPts val="0"/>
              </a:spcAft>
              <a:buClr>
                <a:schemeClr val="lt1"/>
              </a:buClr>
              <a:buSzPts val="18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Image + Content">
  <p:cSld name="Title + Image + Content">
    <p:bg>
      <p:bgPr>
        <a:solidFill>
          <a:schemeClr val="lt1"/>
        </a:solidFill>
        <a:effectLst/>
      </p:bgPr>
    </p:bg>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
          <p:cNvSpPr txBox="1">
            <a:spLocks noGrp="1"/>
          </p:cNvSpPr>
          <p:nvPr>
            <p:ph type="body" idx="1"/>
          </p:nvPr>
        </p:nvSpPr>
        <p:spPr>
          <a:xfrm>
            <a:off x="7835952" y="2728800"/>
            <a:ext cx="2959200"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9"/>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56" name="Google Shape;56;p9"/>
          <p:cNvSpPr>
            <a:spLocks noGrp="1"/>
          </p:cNvSpPr>
          <p:nvPr>
            <p:ph type="pic" idx="2"/>
          </p:nvPr>
        </p:nvSpPr>
        <p:spPr>
          <a:xfrm>
            <a:off x="954088" y="2728913"/>
            <a:ext cx="6400800" cy="4129087"/>
          </a:xfrm>
          <a:prstGeom prst="rect">
            <a:avLst/>
          </a:prstGeom>
          <a:noFill/>
          <a:ln>
            <a:noFill/>
          </a:ln>
        </p:spPr>
      </p:sp>
      <p:sp>
        <p:nvSpPr>
          <p:cNvPr id="57" name="Google Shape;57;p9"/>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Content + 2 Images">
  <p:cSld name="Title + Content + 2 Images">
    <p:bg>
      <p:bgPr>
        <a:solidFill>
          <a:schemeClr val="lt1"/>
        </a:solidFill>
        <a:effectLst/>
      </p:bgPr>
    </p:bg>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62" name="Google Shape;62;p10"/>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10"/>
          <p:cNvSpPr txBox="1">
            <a:spLocks noGrp="1"/>
          </p:cNvSpPr>
          <p:nvPr>
            <p:ph type="body" idx="1"/>
          </p:nvPr>
        </p:nvSpPr>
        <p:spPr>
          <a:xfrm>
            <a:off x="953999"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0"/>
          <p:cNvSpPr txBox="1">
            <a:spLocks noGrp="1"/>
          </p:cNvSpPr>
          <p:nvPr>
            <p:ph type="body" idx="2"/>
          </p:nvPr>
        </p:nvSpPr>
        <p:spPr>
          <a:xfrm>
            <a:off x="8278804"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0"/>
          <p:cNvSpPr txBox="1">
            <a:spLocks noGrp="1"/>
          </p:cNvSpPr>
          <p:nvPr>
            <p:ph type="body" idx="3"/>
          </p:nvPr>
        </p:nvSpPr>
        <p:spPr>
          <a:xfrm>
            <a:off x="4613975"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ull Bleed Image">
  <p:cSld name="Full Bleed Image">
    <p:bg>
      <p:bgPr>
        <a:solidFill>
          <a:schemeClr val="accent1"/>
        </a:solidFill>
        <a:effectLst/>
      </p:bgPr>
    </p:bg>
    <p:spTree>
      <p:nvGrpSpPr>
        <p:cNvPr id="1" name="Shape 66"/>
        <p:cNvGrpSpPr/>
        <p:nvPr/>
      </p:nvGrpSpPr>
      <p:grpSpPr>
        <a:xfrm>
          <a:off x="0" y="0"/>
          <a:ext cx="0" cy="0"/>
          <a:chOff x="0" y="0"/>
          <a:chExt cx="0" cy="0"/>
        </a:xfrm>
      </p:grpSpPr>
      <p:sp>
        <p:nvSpPr>
          <p:cNvPr id="67" name="Google Shape;67;p11"/>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Video">
  <p:cSld name="1_Video">
    <p:bg>
      <p:bgPr>
        <a:solidFill>
          <a:schemeClr val="accent1"/>
        </a:solidFill>
        <a:effectLst/>
      </p:bgPr>
    </p:bg>
    <p:spTree>
      <p:nvGrpSpPr>
        <p:cNvPr id="1" name="Shape 68"/>
        <p:cNvGrpSpPr/>
        <p:nvPr/>
      </p:nvGrpSpPr>
      <p:grpSpPr>
        <a:xfrm>
          <a:off x="0" y="0"/>
          <a:ext cx="0" cy="0"/>
          <a:chOff x="0" y="0"/>
          <a:chExt cx="0" cy="0"/>
        </a:xfrm>
      </p:grpSpPr>
      <p:sp>
        <p:nvSpPr>
          <p:cNvPr id="69" name="Google Shape;69;p12"/>
          <p:cNvSpPr>
            <a:spLocks noGrp="1"/>
          </p:cNvSpPr>
          <p:nvPr>
            <p:ph type="media" idx="2"/>
          </p:nvPr>
        </p:nvSpPr>
        <p:spPr>
          <a:xfrm>
            <a:off x="140400" y="140400"/>
            <a:ext cx="11916000" cy="6580800"/>
          </a:xfrm>
          <a:prstGeom prst="rect">
            <a:avLst/>
          </a:prstGeom>
          <a:solidFill>
            <a:schemeClr val="lt1"/>
          </a:solidFill>
          <a:ln>
            <a:noFill/>
          </a:ln>
        </p:spPr>
        <p:txBody>
          <a:bodyPr spcFirstLastPara="1" wrap="square" lIns="0" tIns="0" rIns="0" bIns="0" anchor="t" anchorCtr="0">
            <a:noAutofit/>
          </a:bodyPr>
          <a:lstStyle>
            <a:lvl1pPr marR="0" lvl="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R="0" lvl="1"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R="0" lvl="2"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R="0" lvl="3"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R="0" lvl="4"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Icons and text">
  <p:cSld name="Icons and text">
    <p:bg>
      <p:bgPr>
        <a:solidFill>
          <a:schemeClr val="lt1"/>
        </a:solidFill>
        <a:effectLst/>
      </p:bgPr>
    </p:bg>
    <p:spTree>
      <p:nvGrpSpPr>
        <p:cNvPr id="1" name="Shape 70"/>
        <p:cNvGrpSpPr/>
        <p:nvPr/>
      </p:nvGrpSpPr>
      <p:grpSpPr>
        <a:xfrm>
          <a:off x="0" y="0"/>
          <a:ext cx="0" cy="0"/>
          <a:chOff x="0" y="0"/>
          <a:chExt cx="0" cy="0"/>
        </a:xfrm>
      </p:grpSpPr>
      <p:sp>
        <p:nvSpPr>
          <p:cNvPr id="71" name="Google Shape;71;p13"/>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3"/>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73" name="Google Shape;73;p13"/>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 name="Google Shape;74;p13"/>
          <p:cNvSpPr txBox="1">
            <a:spLocks noGrp="1"/>
          </p:cNvSpPr>
          <p:nvPr>
            <p:ph type="body" idx="1"/>
          </p:nvPr>
        </p:nvSpPr>
        <p:spPr>
          <a:xfrm>
            <a:off x="970139" y="4079342"/>
            <a:ext cx="3144661" cy="2252134"/>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2"/>
          </p:nvPr>
        </p:nvSpPr>
        <p:spPr>
          <a:xfrm>
            <a:off x="8077200"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3"/>
          </p:nvPr>
        </p:nvSpPr>
        <p:spPr>
          <a:xfrm>
            <a:off x="4523669"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a:spLocks noGrp="1"/>
          </p:cNvSpPr>
          <p:nvPr>
            <p:ph type="pic" idx="4"/>
          </p:nvPr>
        </p:nvSpPr>
        <p:spPr>
          <a:xfrm>
            <a:off x="1462175" y="1640942"/>
            <a:ext cx="2160587" cy="2160588"/>
          </a:xfrm>
          <a:prstGeom prst="rect">
            <a:avLst/>
          </a:prstGeom>
          <a:noFill/>
          <a:ln>
            <a:noFill/>
          </a:ln>
        </p:spPr>
      </p:sp>
      <p:sp>
        <p:nvSpPr>
          <p:cNvPr id="78" name="Google Shape;78;p13"/>
          <p:cNvSpPr>
            <a:spLocks noGrp="1"/>
          </p:cNvSpPr>
          <p:nvPr>
            <p:ph type="pic" idx="5"/>
          </p:nvPr>
        </p:nvSpPr>
        <p:spPr>
          <a:xfrm>
            <a:off x="5015705" y="1640942"/>
            <a:ext cx="2160587" cy="2160588"/>
          </a:xfrm>
          <a:prstGeom prst="rect">
            <a:avLst/>
          </a:prstGeom>
          <a:noFill/>
          <a:ln>
            <a:noFill/>
          </a:ln>
        </p:spPr>
      </p:sp>
      <p:sp>
        <p:nvSpPr>
          <p:cNvPr id="79" name="Google Shape;79;p13"/>
          <p:cNvSpPr>
            <a:spLocks noGrp="1"/>
          </p:cNvSpPr>
          <p:nvPr>
            <p:ph type="pic" idx="6"/>
          </p:nvPr>
        </p:nvSpPr>
        <p:spPr>
          <a:xfrm>
            <a:off x="8569236" y="1640942"/>
            <a:ext cx="2160587" cy="2160588"/>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d page">
  <p:cSld name="End page">
    <p:bg>
      <p:bgPr>
        <a:solidFill>
          <a:schemeClr val="accent1"/>
        </a:solidFill>
        <a:effectLst/>
      </p:bgPr>
    </p:bg>
    <p:spTree>
      <p:nvGrpSpPr>
        <p:cNvPr id="1"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a:stretch/>
        </p:blipFill>
        <p:spPr>
          <a:xfrm>
            <a:off x="954002" y="5511600"/>
            <a:ext cx="2242795" cy="397958"/>
          </a:xfrm>
          <a:prstGeom prst="rect">
            <a:avLst/>
          </a:prstGeom>
          <a:noFill/>
          <a:ln>
            <a:noFill/>
          </a:ln>
        </p:spPr>
      </p:pic>
      <p:sp>
        <p:nvSpPr>
          <p:cNvPr id="82" name="Google Shape;82;p14"/>
          <p:cNvSpPr txBox="1">
            <a:spLocks noGrp="1"/>
          </p:cNvSpPr>
          <p:nvPr>
            <p:ph type="ctrTitle"/>
          </p:nvPr>
        </p:nvSpPr>
        <p:spPr>
          <a:xfrm>
            <a:off x="926844" y="1964352"/>
            <a:ext cx="11828559" cy="105157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4"/>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4"/>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203232"/>
              </a:buClr>
              <a:buSzPts val="3600"/>
              <a:buFont typeface="Arial"/>
              <a:buNone/>
              <a:defRPr sz="3600" b="1" i="0" u="none" strike="noStrike" cap="non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970139" y="2717600"/>
            <a:ext cx="10279150" cy="31752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L="914400" marR="0" lvl="1" indent="-228600"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L="1371600" marR="0" lvl="2" indent="-381000"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L="1828800" marR="0" lvl="3" indent="-228600"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L="2286000" marR="0" lvl="4" indent="-228600"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500" b="0" i="0" u="none" strike="noStrike" cap="none">
                <a:solidFill>
                  <a:srgbClr val="8A8D8D"/>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500" b="1" i="0" u="none" strike="noStrike" cap="none">
                <a:solidFill>
                  <a:srgbClr val="8A8D8D"/>
                </a:solidFill>
                <a:latin typeface="Arial"/>
                <a:ea typeface="Arial"/>
                <a:cs typeface="Arial"/>
                <a:sym typeface="Arial"/>
              </a:defRPr>
            </a:lvl1pPr>
            <a:lvl2pPr marL="0" marR="0" lvl="1" indent="0" algn="r" rtl="0">
              <a:spcBef>
                <a:spcPts val="0"/>
              </a:spcBef>
              <a:buNone/>
              <a:defRPr sz="1500" b="1" i="0" u="none" strike="noStrike" cap="none">
                <a:solidFill>
                  <a:srgbClr val="8A8D8D"/>
                </a:solidFill>
                <a:latin typeface="Arial"/>
                <a:ea typeface="Arial"/>
                <a:cs typeface="Arial"/>
                <a:sym typeface="Arial"/>
              </a:defRPr>
            </a:lvl2pPr>
            <a:lvl3pPr marL="0" marR="0" lvl="2" indent="0" algn="r" rtl="0">
              <a:spcBef>
                <a:spcPts val="0"/>
              </a:spcBef>
              <a:buNone/>
              <a:defRPr sz="1500" b="1" i="0" u="none" strike="noStrike" cap="none">
                <a:solidFill>
                  <a:srgbClr val="8A8D8D"/>
                </a:solidFill>
                <a:latin typeface="Arial"/>
                <a:ea typeface="Arial"/>
                <a:cs typeface="Arial"/>
                <a:sym typeface="Arial"/>
              </a:defRPr>
            </a:lvl3pPr>
            <a:lvl4pPr marL="0" marR="0" lvl="3" indent="0" algn="r" rtl="0">
              <a:spcBef>
                <a:spcPts val="0"/>
              </a:spcBef>
              <a:buNone/>
              <a:defRPr sz="1500" b="1" i="0" u="none" strike="noStrike" cap="none">
                <a:solidFill>
                  <a:srgbClr val="8A8D8D"/>
                </a:solidFill>
                <a:latin typeface="Arial"/>
                <a:ea typeface="Arial"/>
                <a:cs typeface="Arial"/>
                <a:sym typeface="Arial"/>
              </a:defRPr>
            </a:lvl4pPr>
            <a:lvl5pPr marL="0" marR="0" lvl="4" indent="0" algn="r" rtl="0">
              <a:spcBef>
                <a:spcPts val="0"/>
              </a:spcBef>
              <a:buNone/>
              <a:defRPr sz="1500" b="1" i="0" u="none" strike="noStrike" cap="none">
                <a:solidFill>
                  <a:srgbClr val="8A8D8D"/>
                </a:solidFill>
                <a:latin typeface="Arial"/>
                <a:ea typeface="Arial"/>
                <a:cs typeface="Arial"/>
                <a:sym typeface="Arial"/>
              </a:defRPr>
            </a:lvl5pPr>
            <a:lvl6pPr marL="0" marR="0" lvl="5" indent="0" algn="r" rtl="0">
              <a:spcBef>
                <a:spcPts val="0"/>
              </a:spcBef>
              <a:buNone/>
              <a:defRPr sz="1500" b="1" i="0" u="none" strike="noStrike" cap="none">
                <a:solidFill>
                  <a:srgbClr val="8A8D8D"/>
                </a:solidFill>
                <a:latin typeface="Arial"/>
                <a:ea typeface="Arial"/>
                <a:cs typeface="Arial"/>
                <a:sym typeface="Arial"/>
              </a:defRPr>
            </a:lvl6pPr>
            <a:lvl7pPr marL="0" marR="0" lvl="6" indent="0" algn="r" rtl="0">
              <a:spcBef>
                <a:spcPts val="0"/>
              </a:spcBef>
              <a:buNone/>
              <a:defRPr sz="1500" b="1" i="0" u="none" strike="noStrike" cap="none">
                <a:solidFill>
                  <a:srgbClr val="8A8D8D"/>
                </a:solidFill>
                <a:latin typeface="Arial"/>
                <a:ea typeface="Arial"/>
                <a:cs typeface="Arial"/>
                <a:sym typeface="Arial"/>
              </a:defRPr>
            </a:lvl7pPr>
            <a:lvl8pPr marL="0" marR="0" lvl="7" indent="0" algn="r" rtl="0">
              <a:spcBef>
                <a:spcPts val="0"/>
              </a:spcBef>
              <a:buNone/>
              <a:defRPr sz="1500" b="1" i="0" u="none" strike="noStrike" cap="none">
                <a:solidFill>
                  <a:srgbClr val="8A8D8D"/>
                </a:solidFill>
                <a:latin typeface="Arial"/>
                <a:ea typeface="Arial"/>
                <a:cs typeface="Arial"/>
                <a:sym typeface="Arial"/>
              </a:defRPr>
            </a:lvl8pPr>
            <a:lvl9pPr marL="0" marR="0" lvl="8" indent="0" algn="r" rtl="0">
              <a:spcBef>
                <a:spcPts val="0"/>
              </a:spcBef>
              <a:buNone/>
              <a:defRPr sz="1500" b="1" i="0" u="none" strike="noStrike" cap="none">
                <a:solidFill>
                  <a:srgbClr val="8A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p16"/>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fontScale="90000"/>
          </a:bodyPr>
          <a:lstStyle/>
          <a:p>
            <a:pPr marL="0" lvl="0" indent="0" algn="l" rtl="0">
              <a:lnSpc>
                <a:spcPct val="100000"/>
              </a:lnSpc>
              <a:spcBef>
                <a:spcPts val="0"/>
              </a:spcBef>
              <a:spcAft>
                <a:spcPts val="0"/>
              </a:spcAft>
              <a:buClr>
                <a:schemeClr val="lt1"/>
              </a:buClr>
              <a:buSzPct val="100000"/>
              <a:buFont typeface="Arial"/>
              <a:buNone/>
            </a:pPr>
            <a:r>
              <a:rPr lang="en-GB"/>
              <a:t>Research Question – </a:t>
            </a:r>
            <a:br>
              <a:rPr lang="en-GB"/>
            </a:br>
            <a:r>
              <a:rPr lang="en-GB" sz="4000"/>
              <a:t>Tutorial Presentation for Feedback</a:t>
            </a:r>
            <a:br>
              <a:rPr lang="en-GB" sz="4000"/>
            </a:br>
            <a:r>
              <a:rPr lang="en-GB" sz="2200"/>
              <a:t>Date: </a:t>
            </a:r>
            <a:br>
              <a:rPr lang="en-GB" sz="8000"/>
            </a:br>
            <a:endParaRPr/>
          </a:p>
        </p:txBody>
      </p:sp>
      <p:sp>
        <p:nvSpPr>
          <p:cNvPr id="97" name="Google Shape;97;p16"/>
          <p:cNvSpPr txBox="1">
            <a:spLocks noGrp="1"/>
          </p:cNvSpPr>
          <p:nvPr>
            <p:ph type="subTitle" idx="1"/>
          </p:nvPr>
        </p:nvSpPr>
        <p:spPr>
          <a:xfrm>
            <a:off x="953999" y="1834582"/>
            <a:ext cx="10031156" cy="360000"/>
          </a:xfrm>
          <a:prstGeom prst="rect">
            <a:avLst/>
          </a:prstGeom>
          <a:noFill/>
          <a:ln>
            <a:noFill/>
          </a:ln>
        </p:spPr>
        <p:txBody>
          <a:bodyPr spcFirstLastPara="1" wrap="square" lIns="0" tIns="0" rIns="0" bIns="0" anchor="t" anchorCtr="0">
            <a:noAutofit/>
          </a:bodyPr>
          <a:lstStyle/>
          <a:p>
            <a:pPr marL="0" lvl="0" indent="0" algn="ctr">
              <a:lnSpc>
                <a:spcPct val="144000"/>
              </a:lnSpc>
              <a:buSzPts val="2000"/>
            </a:pPr>
            <a:r>
              <a:rPr lang="en-GB" sz="1600" dirty="0"/>
              <a:t>Group Name:  NO. A53                      Name of Student Presenting: MOHSIN MAQSOOD ABBASI</a:t>
            </a:r>
            <a:endParaRPr sz="2800" dirty="0"/>
          </a:p>
        </p:txBody>
      </p:sp>
      <p:sp>
        <p:nvSpPr>
          <p:cNvPr id="98" name="Google Shape;98;p16"/>
          <p:cNvSpPr txBox="1">
            <a:spLocks noGrp="1"/>
          </p:cNvSpPr>
          <p:nvPr>
            <p:ph type="ftr" idx="11"/>
          </p:nvPr>
        </p:nvSpPr>
        <p:spPr>
          <a:xfrm>
            <a:off x="965289" y="274320"/>
            <a:ext cx="10455567" cy="736245"/>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a:t>7COM1079-2024  Student Group No:                    Names of Student Attendees  (all group should attend to get feedback):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subTitle" idx="1"/>
          </p:nvPr>
        </p:nvSpPr>
        <p:spPr>
          <a:xfrm>
            <a:off x="965288" y="1110273"/>
            <a:ext cx="10110240" cy="588024"/>
          </a:xfrm>
          <a:prstGeom prst="rect">
            <a:avLst/>
          </a:prstGeom>
          <a:noFill/>
          <a:ln>
            <a:noFill/>
          </a:ln>
        </p:spPr>
        <p:txBody>
          <a:bodyPr spcFirstLastPara="1" wrap="square" lIns="0" tIns="0" rIns="0" bIns="0" anchor="t" anchorCtr="0">
            <a:noAutofit/>
          </a:bodyPr>
          <a:lstStyle/>
          <a:p>
            <a:pPr marL="0" lvl="0" indent="0" algn="ctr"/>
            <a:r>
              <a:rPr lang="en-GB" sz="2900" dirty="0">
                <a:solidFill>
                  <a:schemeClr val="tx1"/>
                </a:solidFill>
              </a:rPr>
              <a:t>Dataset ID:</a:t>
            </a:r>
            <a:endParaRPr sz="2900" dirty="0">
              <a:solidFill>
                <a:schemeClr val="tx1"/>
              </a:solidFill>
            </a:endParaRPr>
          </a:p>
        </p:txBody>
      </p:sp>
      <p:sp>
        <p:nvSpPr>
          <p:cNvPr id="105" name="Google Shape;105;p17"/>
          <p:cNvSpPr txBox="1">
            <a:spLocks noGrp="1"/>
          </p:cNvSpPr>
          <p:nvPr>
            <p:ph type="ftr" idx="11"/>
          </p:nvPr>
        </p:nvSpPr>
        <p:spPr>
          <a:xfrm>
            <a:off x="965288" y="791022"/>
            <a:ext cx="9129687" cy="230832"/>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a:t>7COM1079-2024  Student Group No:                    Names of Student Group Attendees: </a:t>
            </a:r>
            <a:endParaRPr/>
          </a:p>
        </p:txBody>
      </p:sp>
      <p:sp>
        <p:nvSpPr>
          <p:cNvPr id="106" name="Google Shape;106;p17"/>
          <p:cNvSpPr txBox="1">
            <a:spLocks noGrp="1"/>
          </p:cNvSpPr>
          <p:nvPr>
            <p:ph type="sldNum" idx="12"/>
          </p:nvPr>
        </p:nvSpPr>
        <p:spPr>
          <a:xfrm>
            <a:off x="10954512" y="555565"/>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2</a:t>
            </a:r>
            <a:endParaRPr/>
          </a:p>
        </p:txBody>
      </p:sp>
      <p:sp>
        <p:nvSpPr>
          <p:cNvPr id="107" name="Google Shape;107;p17"/>
          <p:cNvSpPr txBox="1">
            <a:spLocks noGrp="1"/>
          </p:cNvSpPr>
          <p:nvPr>
            <p:ph type="ctrTitle"/>
          </p:nvPr>
        </p:nvSpPr>
        <p:spPr>
          <a:xfrm>
            <a:off x="965300" y="1698297"/>
            <a:ext cx="10974900" cy="4271700"/>
          </a:xfrm>
          <a:prstGeom prst="rect">
            <a:avLst/>
          </a:prstGeom>
          <a:noFill/>
          <a:ln>
            <a:noFill/>
          </a:ln>
        </p:spPr>
        <p:txBody>
          <a:bodyPr spcFirstLastPara="1" wrap="square" lIns="0" tIns="0" rIns="0" bIns="0" anchor="t" anchorCtr="0">
            <a:noAutofit/>
          </a:bodyPr>
          <a:lstStyle/>
          <a:p>
            <a:pPr marL="457200" lvl="0" indent="-704850" algn="l" rtl="0">
              <a:lnSpc>
                <a:spcPct val="100000"/>
              </a:lnSpc>
              <a:spcBef>
                <a:spcPts val="0"/>
              </a:spcBef>
              <a:spcAft>
                <a:spcPts val="0"/>
              </a:spcAft>
              <a:buSzPts val="7500"/>
              <a:buFont typeface="Calibri"/>
              <a:buChar char="●"/>
            </a:pPr>
            <a:r>
              <a:rPr lang="en-US" sz="2400" b="0" dirty="0">
                <a:latin typeface="Calibri"/>
                <a:ea typeface="Calibri"/>
                <a:cs typeface="Calibri"/>
                <a:sym typeface="Calibri"/>
              </a:rPr>
              <a:t>The data that is analyzed is the Nobel Prize by winner, where each row has a laureate and has data on name, gender, country of birth, year of award and category of prize. Based on the documented year of birth and award year, we calculate the age of each of the laureates at the age at which he or she received the prize. In this paper, the data set has been filtered to contain only laureates in Physics and Chemistry groups and form a narrow sample that is appropriate to compare the trends of age with these two fields.</a:t>
            </a:r>
            <a:endParaRPr sz="1600" b="0"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subTitle" idx="1"/>
          </p:nvPr>
        </p:nvSpPr>
        <p:spPr>
          <a:xfrm>
            <a:off x="965289" y="1147638"/>
            <a:ext cx="9753625" cy="23083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2"/>
              </a:buClr>
              <a:buSzPts val="3600"/>
              <a:buNone/>
            </a:pPr>
            <a:r>
              <a:rPr lang="en-GB" dirty="0"/>
              <a:t>Our Research Question is </a:t>
            </a:r>
            <a:endParaRPr dirty="0"/>
          </a:p>
        </p:txBody>
      </p:sp>
      <p:sp>
        <p:nvSpPr>
          <p:cNvPr id="115" name="Google Shape;115;p18"/>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dirty="0"/>
              <a:t>PRE 7COM1079-2024  Student Group No:  ?????</a:t>
            </a:r>
            <a:endParaRPr dirty="0"/>
          </a:p>
        </p:txBody>
      </p:sp>
      <p:sp>
        <p:nvSpPr>
          <p:cNvPr id="116" name="Google Shape;116;p18"/>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a:t>3</a:t>
            </a:r>
            <a:endParaRPr/>
          </a:p>
        </p:txBody>
      </p:sp>
      <p:sp>
        <p:nvSpPr>
          <p:cNvPr id="117" name="Google Shape;117;p18"/>
          <p:cNvSpPr txBox="1">
            <a:spLocks noGrp="1"/>
          </p:cNvSpPr>
          <p:nvPr>
            <p:ph type="ctrTitle"/>
          </p:nvPr>
        </p:nvSpPr>
        <p:spPr>
          <a:xfrm>
            <a:off x="775650" y="1750650"/>
            <a:ext cx="10640700" cy="3356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Calibri"/>
              <a:buNone/>
            </a:pPr>
            <a:r>
              <a:rPr lang="en-GB" sz="2400" b="0" dirty="0">
                <a:latin typeface="Calibri"/>
                <a:ea typeface="Calibri"/>
                <a:cs typeface="Calibri"/>
                <a:sym typeface="Calibri"/>
              </a:rPr>
              <a:t> </a:t>
            </a:r>
            <a:r>
              <a:rPr lang="en-US" sz="2400" b="0" dirty="0">
                <a:latin typeface="Calibri"/>
                <a:ea typeface="Calibri"/>
                <a:cs typeface="Calibri"/>
                <a:sym typeface="Calibri"/>
              </a:rPr>
              <a:t>“Is there a statistically significant difference in the mean age at which Nobel Prize laureates in Physics and Chemistry receive their awards?”</a:t>
            </a:r>
            <a:br>
              <a:rPr lang="en-GB" sz="2400" dirty="0">
                <a:latin typeface="Calibri"/>
                <a:ea typeface="Calibri"/>
                <a:cs typeface="Calibri"/>
                <a:sym typeface="Calibri"/>
              </a:rPr>
            </a:br>
            <a:br>
              <a:rPr lang="en-GB" sz="2400" dirty="0">
                <a:latin typeface="Calibri"/>
                <a:ea typeface="Calibri"/>
                <a:cs typeface="Calibri"/>
                <a:sym typeface="Calibri"/>
              </a:rPr>
            </a:br>
            <a:r>
              <a:rPr lang="en-US" sz="1900" b="0" dirty="0">
                <a:latin typeface="Calibri"/>
                <a:ea typeface="Calibri"/>
                <a:cs typeface="Calibri"/>
                <a:sym typeface="Calibri"/>
              </a:rPr>
              <a:t>Null hypothesis (H0): </a:t>
            </a:r>
            <a:r>
              <a:rPr lang="en-US" sz="1900" b="0" dirty="0" err="1">
                <a:latin typeface="Calibri"/>
                <a:ea typeface="Calibri"/>
                <a:cs typeface="Calibri"/>
                <a:sym typeface="Calibri"/>
              </a:rPr>
              <a:t>μ_Chemistry</a:t>
            </a:r>
            <a:r>
              <a:rPr lang="en-US" sz="1900" b="0" dirty="0">
                <a:latin typeface="Calibri"/>
                <a:ea typeface="Calibri"/>
                <a:cs typeface="Calibri"/>
                <a:sym typeface="Calibri"/>
              </a:rPr>
              <a:t> = </a:t>
            </a:r>
            <a:r>
              <a:rPr lang="en-US" sz="1900" b="0" dirty="0" err="1">
                <a:latin typeface="Calibri"/>
                <a:ea typeface="Calibri"/>
                <a:cs typeface="Calibri"/>
                <a:sym typeface="Calibri"/>
              </a:rPr>
              <a:t>μ_Physics</a:t>
            </a:r>
            <a:r>
              <a:rPr lang="en-US" sz="1900" b="0" dirty="0">
                <a:latin typeface="Calibri"/>
                <a:ea typeface="Calibri"/>
                <a:cs typeface="Calibri"/>
                <a:sym typeface="Calibri"/>
              </a:rPr>
              <a:t>. There is no difference in the average age at which laureates in Physics and Chemistry receive the Nobel Prize.</a:t>
            </a:r>
            <a:br>
              <a:rPr lang="en-US" sz="1900" b="0" dirty="0">
                <a:latin typeface="Calibri"/>
                <a:ea typeface="Calibri"/>
                <a:cs typeface="Calibri"/>
                <a:sym typeface="Calibri"/>
              </a:rPr>
            </a:br>
            <a:r>
              <a:rPr lang="en-US" sz="1900" b="0" dirty="0">
                <a:latin typeface="Calibri"/>
                <a:ea typeface="Calibri"/>
                <a:cs typeface="Calibri"/>
                <a:sym typeface="Calibri"/>
              </a:rPr>
              <a:t>Alternative hypothesis (H1): </a:t>
            </a:r>
            <a:r>
              <a:rPr lang="en-US" sz="1900" b="0" dirty="0" err="1">
                <a:latin typeface="Calibri"/>
                <a:ea typeface="Calibri"/>
                <a:cs typeface="Calibri"/>
                <a:sym typeface="Calibri"/>
              </a:rPr>
              <a:t>μ_Chemistry</a:t>
            </a:r>
            <a:r>
              <a:rPr lang="en-US" sz="1900" b="0" dirty="0">
                <a:latin typeface="Calibri"/>
                <a:ea typeface="Calibri"/>
                <a:cs typeface="Calibri"/>
                <a:sym typeface="Calibri"/>
              </a:rPr>
              <a:t> ≠ </a:t>
            </a:r>
            <a:r>
              <a:rPr lang="en-US" sz="1900" b="0" dirty="0" err="1">
                <a:latin typeface="Calibri"/>
                <a:ea typeface="Calibri"/>
                <a:cs typeface="Calibri"/>
                <a:sym typeface="Calibri"/>
              </a:rPr>
              <a:t>μ_Physics</a:t>
            </a:r>
            <a:r>
              <a:rPr lang="en-US" sz="1900" b="0" dirty="0">
                <a:latin typeface="Calibri"/>
                <a:ea typeface="Calibri"/>
                <a:cs typeface="Calibri"/>
                <a:sym typeface="Calibri"/>
              </a:rPr>
              <a:t>. The average age at award differs between Physics and Chemistry laureates.</a:t>
            </a:r>
            <a:br>
              <a:rPr lang="en-US" sz="1900" b="0" dirty="0">
                <a:latin typeface="Calibri"/>
                <a:ea typeface="Calibri"/>
                <a:cs typeface="Calibri"/>
                <a:sym typeface="Calibri"/>
              </a:rPr>
            </a:br>
            <a:br>
              <a:rPr lang="en-GB" sz="1900" b="0" dirty="0">
                <a:latin typeface="Calibri"/>
                <a:ea typeface="Calibri"/>
                <a:cs typeface="Calibri"/>
                <a:sym typeface="Calibri"/>
              </a:rPr>
            </a:br>
            <a:endParaRPr sz="1900" b="0" dirty="0">
              <a:solidFill>
                <a:srgbClr val="FF0000"/>
              </a:solidFill>
            </a:endParaRPr>
          </a:p>
        </p:txBody>
      </p:sp>
      <p:sp>
        <p:nvSpPr>
          <p:cNvPr id="2" name="Rectangle 1">
            <a:extLst>
              <a:ext uri="{FF2B5EF4-FFF2-40B4-BE49-F238E27FC236}">
                <a16:creationId xmlns:a16="http://schemas.microsoft.com/office/drawing/2014/main" id="{4E0E351D-E97B-17A8-9053-55844472B98A}"/>
              </a:ext>
            </a:extLst>
          </p:cNvPr>
          <p:cNvSpPr>
            <a:spLocks noChangeArrowheads="1"/>
          </p:cNvSpPr>
          <p:nvPr/>
        </p:nvSpPr>
        <p:spPr bwMode="auto">
          <a:xfrm>
            <a:off x="482644" y="4094535"/>
            <a:ext cx="11226711"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Lucida Console" panose="020B0609040504020204" pitchFamily="49" charset="0"/>
              </a:rPr>
              <a:t>Welch Two Sample t-test data: </a:t>
            </a:r>
            <a:r>
              <a:rPr kumimoji="0" lang="en-US" altLang="en-US" sz="1800" b="0" i="0" u="none" strike="noStrike" cap="none" normalizeH="0" baseline="0" dirty="0" err="1">
                <a:ln>
                  <a:noFill/>
                </a:ln>
                <a:solidFill>
                  <a:srgbClr val="000000"/>
                </a:solidFill>
                <a:effectLst/>
                <a:latin typeface="Lucida Console" panose="020B0609040504020204" pitchFamily="49" charset="0"/>
              </a:rPr>
              <a:t>age_at_award</a:t>
            </a:r>
            <a:r>
              <a:rPr kumimoji="0" lang="en-US" altLang="en-US" sz="1800" b="0" i="0" u="none" strike="noStrike" cap="none" normalizeH="0" baseline="0" dirty="0">
                <a:ln>
                  <a:noFill/>
                </a:ln>
                <a:solidFill>
                  <a:srgbClr val="000000"/>
                </a:solidFill>
                <a:effectLst/>
                <a:latin typeface="Lucida Console" panose="020B0609040504020204" pitchFamily="49" charset="0"/>
              </a:rPr>
              <a:t> by category t = 1.8582, </a:t>
            </a:r>
            <a:r>
              <a:rPr kumimoji="0" lang="en-US" altLang="en-US" sz="1800" b="0" i="0" u="none" strike="noStrike" cap="none" normalizeH="0" baseline="0" dirty="0" err="1">
                <a:ln>
                  <a:noFill/>
                </a:ln>
                <a:solidFill>
                  <a:srgbClr val="000000"/>
                </a:solidFill>
                <a:effectLst/>
                <a:latin typeface="Lucida Console" panose="020B0609040504020204" pitchFamily="49" charset="0"/>
              </a:rPr>
              <a:t>df</a:t>
            </a:r>
            <a:r>
              <a:rPr kumimoji="0" lang="en-US" altLang="en-US" sz="1800" b="0" i="0" u="none" strike="noStrike" cap="none" normalizeH="0" baseline="0" dirty="0">
                <a:ln>
                  <a:noFill/>
                </a:ln>
                <a:solidFill>
                  <a:srgbClr val="000000"/>
                </a:solidFill>
                <a:effectLst/>
                <a:latin typeface="Lucida Console" panose="020B0609040504020204" pitchFamily="49" charset="0"/>
              </a:rPr>
              <a:t> = 404.76, p-value = 0.06387 alternative hypothesis: true difference in means between group chemistry and group physics is not equal to 0 95 percent confidence interval: -0.1352178 4.8028384 sample estimates: mean in group chemistry mean in group physics 57.94211 55.60829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20"/>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GB"/>
              <a:t>4</a:t>
            </a:fld>
            <a:endParaRPr/>
          </a:p>
        </p:txBody>
      </p:sp>
      <p:sp>
        <p:nvSpPr>
          <p:cNvPr id="4" name="AutoShape 2">
            <a:extLst>
              <a:ext uri="{FF2B5EF4-FFF2-40B4-BE49-F238E27FC236}">
                <a16:creationId xmlns:a16="http://schemas.microsoft.com/office/drawing/2014/main" id="{56BEA2B5-795F-81E0-4575-D1D3A4F02CA7}"/>
              </a:ext>
            </a:extLst>
          </p:cNvPr>
          <p:cNvSpPr>
            <a:spLocks noChangeAspect="1" noChangeArrowheads="1"/>
          </p:cNvSpPr>
          <p:nvPr/>
        </p:nvSpPr>
        <p:spPr bwMode="auto">
          <a:xfrm>
            <a:off x="3311912" y="644912"/>
            <a:ext cx="2936488" cy="29364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4127412B-6604-E6D0-7A9F-AC88435CB259}"/>
              </a:ext>
            </a:extLst>
          </p:cNvPr>
          <p:cNvPicPr>
            <a:picLocks noChangeAspect="1"/>
          </p:cNvPicPr>
          <p:nvPr/>
        </p:nvPicPr>
        <p:blipFill>
          <a:blip r:embed="rId3"/>
          <a:stretch>
            <a:fillRect/>
          </a:stretch>
        </p:blipFill>
        <p:spPr>
          <a:xfrm>
            <a:off x="1516567" y="776962"/>
            <a:ext cx="7498846" cy="43427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20"/>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GB"/>
              <a:t>5</a:t>
            </a:fld>
            <a:endParaRPr/>
          </a:p>
        </p:txBody>
      </p:sp>
      <p:sp>
        <p:nvSpPr>
          <p:cNvPr id="4" name="AutoShape 2">
            <a:extLst>
              <a:ext uri="{FF2B5EF4-FFF2-40B4-BE49-F238E27FC236}">
                <a16:creationId xmlns:a16="http://schemas.microsoft.com/office/drawing/2014/main" id="{56BEA2B5-795F-81E0-4575-D1D3A4F02CA7}"/>
              </a:ext>
            </a:extLst>
          </p:cNvPr>
          <p:cNvSpPr>
            <a:spLocks noChangeAspect="1" noChangeArrowheads="1"/>
          </p:cNvSpPr>
          <p:nvPr/>
        </p:nvSpPr>
        <p:spPr bwMode="auto">
          <a:xfrm>
            <a:off x="3311912" y="644912"/>
            <a:ext cx="2936488" cy="29364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95FCEAD8-6904-636C-F563-FA55655C7298}"/>
              </a:ext>
            </a:extLst>
          </p:cNvPr>
          <p:cNvPicPr>
            <a:picLocks noChangeAspect="1"/>
          </p:cNvPicPr>
          <p:nvPr/>
        </p:nvPicPr>
        <p:blipFill>
          <a:blip r:embed="rId3"/>
          <a:stretch>
            <a:fillRect/>
          </a:stretch>
        </p:blipFill>
        <p:spPr>
          <a:xfrm>
            <a:off x="1288547" y="644912"/>
            <a:ext cx="8634942" cy="4474775"/>
          </a:xfrm>
          <a:prstGeom prst="rect">
            <a:avLst/>
          </a:prstGeom>
        </p:spPr>
      </p:pic>
    </p:spTree>
    <p:extLst>
      <p:ext uri="{BB962C8B-B14F-4D97-AF65-F5344CB8AC3E}">
        <p14:creationId xmlns:p14="http://schemas.microsoft.com/office/powerpoint/2010/main" val="1690577868"/>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512</Words>
  <Application>Microsoft Office PowerPoint</Application>
  <PresentationFormat>Widescreen</PresentationFormat>
  <Paragraphs>19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Lucida Console</vt:lpstr>
      <vt:lpstr>Herts Theme</vt:lpstr>
      <vt:lpstr>Research Question –  Tutorial Presentation for Feedback Date:  </vt:lpstr>
      <vt:lpstr>The data that is analyzed is the Nobel Prize by winner, where each row has a laureate and has data on name, gender, country of birth, year of award and category of prize. Based on the documented year of birth and award year, we calculate the age of each of the laureates at the age at which he or she received the prize. In this paper, the data set has been filtered to contain only laureates in Physics and Chemistry groups and form a narrow sample that is appropriate to compare the trends of age with these two fields.</vt:lpstr>
      <vt:lpstr> “Is there a statistically significant difference in the mean age at which Nobel Prize laureates in Physics and Chemistry receive their awards?”  Null hypothesis (H0): μ_Chemistry = μ_Physics. There is no difference in the average age at which laureates in Physics and Chemistry receive the Nobel Prize. Alternative hypothesis (H1): μ_Chemistry ≠ μ_Physics. The average age at award differs between Physics and Chemistry laureates.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khola mahmood</cp:lastModifiedBy>
  <cp:revision>9</cp:revision>
  <dcterms:modified xsi:type="dcterms:W3CDTF">2025-12-10T21:48:04Z</dcterms:modified>
</cp:coreProperties>
</file>